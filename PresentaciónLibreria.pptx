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XM Yekan Bold" charset="1" panose="02000803030000020004"/>
      <p:regular r:id="rId17"/>
    </p:embeddedFont>
    <p:embeddedFont>
      <p:font typeface="XM Yekan" charset="1" panose="0200050303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8823" y="-1035213"/>
            <a:ext cx="4544458" cy="4114800"/>
          </a:xfrm>
          <a:custGeom>
            <a:avLst/>
            <a:gdLst/>
            <a:ahLst/>
            <a:cxnLst/>
            <a:rect r="r" b="b" t="t" l="l"/>
            <a:pathLst>
              <a:path h="4114800" w="4544458">
                <a:moveTo>
                  <a:pt x="0" y="0"/>
                </a:moveTo>
                <a:lnTo>
                  <a:pt x="4544457" y="0"/>
                </a:lnTo>
                <a:lnTo>
                  <a:pt x="45444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5328" y="276737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544142" y="-1389257"/>
            <a:ext cx="5839774" cy="6056134"/>
            <a:chOff x="0" y="0"/>
            <a:chExt cx="1538047" cy="15950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38047" cy="1595031"/>
            </a:xfrm>
            <a:custGeom>
              <a:avLst/>
              <a:gdLst/>
              <a:ahLst/>
              <a:cxnLst/>
              <a:rect r="r" b="b" t="t" l="l"/>
              <a:pathLst>
                <a:path h="1595031" w="1538047">
                  <a:moveTo>
                    <a:pt x="132572" y="0"/>
                  </a:moveTo>
                  <a:lnTo>
                    <a:pt x="1405475" y="0"/>
                  </a:lnTo>
                  <a:cubicBezTo>
                    <a:pt x="1440636" y="0"/>
                    <a:pt x="1474356" y="13967"/>
                    <a:pt x="1499218" y="38830"/>
                  </a:cubicBezTo>
                  <a:cubicBezTo>
                    <a:pt x="1524080" y="63692"/>
                    <a:pt x="1538047" y="97412"/>
                    <a:pt x="1538047" y="132572"/>
                  </a:cubicBezTo>
                  <a:lnTo>
                    <a:pt x="1538047" y="1462459"/>
                  </a:lnTo>
                  <a:cubicBezTo>
                    <a:pt x="1538047" y="1497619"/>
                    <a:pt x="1524080" y="1531339"/>
                    <a:pt x="1499218" y="1556202"/>
                  </a:cubicBezTo>
                  <a:cubicBezTo>
                    <a:pt x="1474356" y="1581064"/>
                    <a:pt x="1440636" y="1595031"/>
                    <a:pt x="1405475" y="1595031"/>
                  </a:cubicBezTo>
                  <a:lnTo>
                    <a:pt x="132572" y="1595031"/>
                  </a:lnTo>
                  <a:cubicBezTo>
                    <a:pt x="97412" y="1595031"/>
                    <a:pt x="63692" y="1581064"/>
                    <a:pt x="38830" y="1556202"/>
                  </a:cubicBezTo>
                  <a:cubicBezTo>
                    <a:pt x="13967" y="1531339"/>
                    <a:pt x="0" y="1497619"/>
                    <a:pt x="0" y="1462459"/>
                  </a:cubicBezTo>
                  <a:lnTo>
                    <a:pt x="0" y="132572"/>
                  </a:lnTo>
                  <a:cubicBezTo>
                    <a:pt x="0" y="97412"/>
                    <a:pt x="13967" y="63692"/>
                    <a:pt x="38830" y="38830"/>
                  </a:cubicBezTo>
                  <a:cubicBezTo>
                    <a:pt x="63692" y="13967"/>
                    <a:pt x="97412" y="0"/>
                    <a:pt x="132572" y="0"/>
                  </a:cubicBezTo>
                  <a:close/>
                </a:path>
              </a:pathLst>
            </a:custGeom>
            <a:solidFill>
              <a:srgbClr val="2C2E31"/>
            </a:soli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538047" cy="1633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456264" y="1040514"/>
            <a:ext cx="4272153" cy="4272153"/>
          </a:xfrm>
          <a:custGeom>
            <a:avLst/>
            <a:gdLst/>
            <a:ahLst/>
            <a:cxnLst/>
            <a:rect r="r" b="b" t="t" l="l"/>
            <a:pathLst>
              <a:path h="4272153" w="4272153">
                <a:moveTo>
                  <a:pt x="0" y="0"/>
                </a:moveTo>
                <a:lnTo>
                  <a:pt x="4272153" y="0"/>
                </a:lnTo>
                <a:lnTo>
                  <a:pt x="4272153" y="4272153"/>
                </a:lnTo>
                <a:lnTo>
                  <a:pt x="0" y="42721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10" id="10"/>
          <p:cNvSpPr/>
          <p:nvPr/>
        </p:nvSpPr>
        <p:spPr>
          <a:xfrm>
            <a:off x="-3662021" y="9063333"/>
            <a:ext cx="127863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69843" y="5824288"/>
            <a:ext cx="8963169" cy="8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9"/>
              </a:lnSpc>
            </a:pPr>
            <a:r>
              <a:rPr lang="en-US" sz="676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POMEGRANATE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9102" y="2787299"/>
            <a:ext cx="11394931" cy="296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8"/>
              </a:lnSpc>
              <a:spcBef>
                <a:spcPct val="0"/>
              </a:spcBef>
            </a:pPr>
            <a:r>
              <a:rPr lang="en-US" sz="17413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LIBRERÍA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9102" y="7165715"/>
            <a:ext cx="8431700" cy="448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9"/>
              </a:lnSpc>
              <a:spcBef>
                <a:spcPct val="0"/>
              </a:spcBef>
            </a:pPr>
            <a:r>
              <a:rPr lang="en-US" b="true" sz="3297" spc="395">
                <a:solidFill>
                  <a:srgbClr val="100F0D"/>
                </a:solidFill>
                <a:latin typeface="XM Yekan Bold"/>
                <a:ea typeface="XM Yekan Bold"/>
                <a:cs typeface="XM Yekan Bold"/>
                <a:sym typeface="XM Yekan Bold"/>
              </a:rPr>
              <a:t>BRAYAN DAVID SANTOS ALVAREZ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36377" y="5749946"/>
            <a:ext cx="10391771" cy="6056134"/>
            <a:chOff x="0" y="0"/>
            <a:chExt cx="2736927" cy="15950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36927" cy="1595031"/>
            </a:xfrm>
            <a:custGeom>
              <a:avLst/>
              <a:gdLst/>
              <a:ahLst/>
              <a:cxnLst/>
              <a:rect r="r" b="b" t="t" l="l"/>
              <a:pathLst>
                <a:path h="1595031" w="2736927">
                  <a:moveTo>
                    <a:pt x="74500" y="0"/>
                  </a:moveTo>
                  <a:lnTo>
                    <a:pt x="2662427" y="0"/>
                  </a:lnTo>
                  <a:cubicBezTo>
                    <a:pt x="2682186" y="0"/>
                    <a:pt x="2701135" y="7849"/>
                    <a:pt x="2715107" y="21821"/>
                  </a:cubicBezTo>
                  <a:cubicBezTo>
                    <a:pt x="2729078" y="35792"/>
                    <a:pt x="2736927" y="54742"/>
                    <a:pt x="2736927" y="74500"/>
                  </a:cubicBezTo>
                  <a:lnTo>
                    <a:pt x="2736927" y="1520531"/>
                  </a:lnTo>
                  <a:cubicBezTo>
                    <a:pt x="2736927" y="1561676"/>
                    <a:pt x="2703572" y="1595031"/>
                    <a:pt x="2662427" y="1595031"/>
                  </a:cubicBezTo>
                  <a:lnTo>
                    <a:pt x="74500" y="1595031"/>
                  </a:lnTo>
                  <a:cubicBezTo>
                    <a:pt x="33355" y="1595031"/>
                    <a:pt x="0" y="1561676"/>
                    <a:pt x="0" y="1520531"/>
                  </a:cubicBezTo>
                  <a:lnTo>
                    <a:pt x="0" y="74500"/>
                  </a:lnTo>
                  <a:cubicBezTo>
                    <a:pt x="0" y="33355"/>
                    <a:pt x="33355" y="0"/>
                    <a:pt x="74500" y="0"/>
                  </a:cubicBezTo>
                  <a:close/>
                </a:path>
              </a:pathLst>
            </a:custGeom>
            <a:solidFill>
              <a:srgbClr val="2C2E31"/>
            </a:solidFill>
            <a:ln cap="rnd">
              <a:noFill/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36927" cy="1633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42194" y="7287107"/>
            <a:ext cx="22666005" cy="3942387"/>
            <a:chOff x="0" y="0"/>
            <a:chExt cx="5969647" cy="10383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9647" cy="1038324"/>
            </a:xfrm>
            <a:custGeom>
              <a:avLst/>
              <a:gdLst/>
              <a:ahLst/>
              <a:cxnLst/>
              <a:rect r="r" b="b" t="t" l="l"/>
              <a:pathLst>
                <a:path h="1038324" w="5969647">
                  <a:moveTo>
                    <a:pt x="34157" y="0"/>
                  </a:moveTo>
                  <a:lnTo>
                    <a:pt x="5935491" y="0"/>
                  </a:lnTo>
                  <a:cubicBezTo>
                    <a:pt x="5944550" y="0"/>
                    <a:pt x="5953237" y="3599"/>
                    <a:pt x="5959643" y="10004"/>
                  </a:cubicBezTo>
                  <a:cubicBezTo>
                    <a:pt x="5966049" y="16410"/>
                    <a:pt x="5969647" y="25098"/>
                    <a:pt x="5969647" y="34157"/>
                  </a:cubicBezTo>
                  <a:lnTo>
                    <a:pt x="5969647" y="1004168"/>
                  </a:lnTo>
                  <a:cubicBezTo>
                    <a:pt x="5969647" y="1023032"/>
                    <a:pt x="5954355" y="1038324"/>
                    <a:pt x="5935491" y="1038324"/>
                  </a:cubicBezTo>
                  <a:lnTo>
                    <a:pt x="34157" y="1038324"/>
                  </a:lnTo>
                  <a:cubicBezTo>
                    <a:pt x="15292" y="1038324"/>
                    <a:pt x="0" y="1023032"/>
                    <a:pt x="0" y="1004168"/>
                  </a:cubicBezTo>
                  <a:lnTo>
                    <a:pt x="0" y="34157"/>
                  </a:lnTo>
                  <a:cubicBezTo>
                    <a:pt x="0" y="15292"/>
                    <a:pt x="15292" y="0"/>
                    <a:pt x="34157" y="0"/>
                  </a:cubicBezTo>
                  <a:close/>
                </a:path>
              </a:pathLst>
            </a:custGeom>
            <a:solidFill>
              <a:srgbClr val="2C2E31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69647" cy="1076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78433" y="6814159"/>
            <a:ext cx="7426949" cy="4888283"/>
          </a:xfrm>
          <a:custGeom>
            <a:avLst/>
            <a:gdLst/>
            <a:ahLst/>
            <a:cxnLst/>
            <a:rect r="r" b="b" t="t" l="l"/>
            <a:pathLst>
              <a:path h="4888283" w="7426949">
                <a:moveTo>
                  <a:pt x="0" y="0"/>
                </a:moveTo>
                <a:lnTo>
                  <a:pt x="7426949" y="0"/>
                </a:lnTo>
                <a:lnTo>
                  <a:pt x="7426949" y="4888282"/>
                </a:lnTo>
                <a:lnTo>
                  <a:pt x="0" y="4888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2635127"/>
            <a:ext cx="14065353" cy="4762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2"/>
              </a:lnSpc>
              <a:spcBef>
                <a:spcPct val="0"/>
              </a:spcBef>
            </a:pPr>
            <a:r>
              <a:rPr lang="en-US" sz="3851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Se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enfoca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e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c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nstruir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y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ent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ren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ar mo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el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s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com</a:t>
            </a:r>
            <a:r>
              <a:rPr lang="en-US" sz="3851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o:</a:t>
            </a:r>
          </a:p>
          <a:p>
            <a:pPr algn="l" marL="831569" indent="-415784" lvl="1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Dist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r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ibu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ci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ones de prob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a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bi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l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idad</a:t>
            </a:r>
          </a:p>
          <a:p>
            <a:pPr algn="l" marL="831569" indent="-415784" lvl="1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Modelos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 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de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 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mezcla (Mixture Mo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de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ls)</a:t>
            </a:r>
          </a:p>
          <a:p>
            <a:pPr algn="l" marL="831569" indent="-415784" lvl="1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Modelos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 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ocult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o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s de M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ar</a:t>
            </a: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kov (HMM)</a:t>
            </a:r>
          </a:p>
          <a:p>
            <a:pPr algn="l" marL="831569" indent="-415784" lvl="1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Redes bayesianas</a:t>
            </a:r>
          </a:p>
          <a:p>
            <a:pPr algn="l" marL="831569" indent="-415784" lvl="1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51" strike="noStrike" u="non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Clasificadores probabilísticos</a:t>
            </a:r>
          </a:p>
          <a:p>
            <a:pPr algn="l">
              <a:lnSpc>
                <a:spcPts val="5392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682311" y="4581800"/>
            <a:ext cx="7605689" cy="4900862"/>
          </a:xfrm>
          <a:custGeom>
            <a:avLst/>
            <a:gdLst/>
            <a:ahLst/>
            <a:cxnLst/>
            <a:rect r="r" b="b" t="t" l="l"/>
            <a:pathLst>
              <a:path h="4900862" w="7605689">
                <a:moveTo>
                  <a:pt x="0" y="0"/>
                </a:moveTo>
                <a:lnTo>
                  <a:pt x="7605689" y="0"/>
                </a:lnTo>
                <a:lnTo>
                  <a:pt x="7605689" y="4900862"/>
                </a:lnTo>
                <a:lnTo>
                  <a:pt x="0" y="4900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36" r="0" b="-163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2890" y="937203"/>
            <a:ext cx="10475246" cy="1774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¿EN</a:t>
            </a: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 QUÉ SE ENFOCA?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752333"/>
            <a:ext cx="5581991" cy="4991617"/>
            <a:chOff x="0" y="0"/>
            <a:chExt cx="864796" cy="773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4796" cy="773332"/>
            </a:xfrm>
            <a:custGeom>
              <a:avLst/>
              <a:gdLst/>
              <a:ahLst/>
              <a:cxnLst/>
              <a:rect r="r" b="b" t="t" l="l"/>
              <a:pathLst>
                <a:path h="773332" w="864796">
                  <a:moveTo>
                    <a:pt x="0" y="0"/>
                  </a:moveTo>
                  <a:lnTo>
                    <a:pt x="864796" y="0"/>
                  </a:lnTo>
                  <a:lnTo>
                    <a:pt x="864796" y="773332"/>
                  </a:lnTo>
                  <a:lnTo>
                    <a:pt x="0" y="773332"/>
                  </a:lnTo>
                  <a:close/>
                </a:path>
              </a:pathLst>
            </a:custGeom>
            <a:blipFill>
              <a:blip r:embed="rId2"/>
              <a:stretch>
                <a:fillRect l="-17189" t="0" r="-17189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-5400000">
            <a:off x="15753661" y="-39582"/>
            <a:ext cx="3972741" cy="2614786"/>
          </a:xfrm>
          <a:custGeom>
            <a:avLst/>
            <a:gdLst/>
            <a:ahLst/>
            <a:cxnLst/>
            <a:rect r="r" b="b" t="t" l="l"/>
            <a:pathLst>
              <a:path h="2614786" w="3972741">
                <a:moveTo>
                  <a:pt x="0" y="0"/>
                </a:moveTo>
                <a:lnTo>
                  <a:pt x="3972742" y="0"/>
                </a:lnTo>
                <a:lnTo>
                  <a:pt x="3972742" y="2614786"/>
                </a:lnTo>
                <a:lnTo>
                  <a:pt x="0" y="2614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838200"/>
            <a:ext cx="13925478" cy="177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CREADOR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4788" y="2459700"/>
            <a:ext cx="13799390" cy="92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4"/>
              </a:lnSpc>
            </a:pPr>
            <a:r>
              <a:rPr lang="en-US" sz="506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Jacob Schreiber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33583" y="3887597"/>
            <a:ext cx="9325717" cy="58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8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Modelos</a:t>
            </a:r>
            <a:r>
              <a:rPr lang="en-US" b="true" sz="420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 de mezcla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23334" y="4906424"/>
            <a:ext cx="9570088" cy="241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Es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un investigado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y científico en aprendizaje automático y biología computacional.</a:t>
            </a:r>
          </a:p>
          <a:p>
            <a:pPr algn="l">
              <a:lnSpc>
                <a:spcPts val="3874"/>
              </a:lnSpc>
              <a:spcBef>
                <a:spcPct val="0"/>
              </a:spcBef>
            </a:pPr>
          </a:p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Su trabajo se ubica en la intersección de la inteligencia artificial, la estadística y la biología molecular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5808" y="4099666"/>
            <a:ext cx="3908100" cy="3821003"/>
            <a:chOff x="0" y="0"/>
            <a:chExt cx="790960" cy="7733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90960" cy="773332"/>
            </a:xfrm>
            <a:custGeom>
              <a:avLst/>
              <a:gdLst/>
              <a:ahLst/>
              <a:cxnLst/>
              <a:rect r="r" b="b" t="t" l="l"/>
              <a:pathLst>
                <a:path h="773332" w="790960">
                  <a:moveTo>
                    <a:pt x="0" y="0"/>
                  </a:moveTo>
                  <a:lnTo>
                    <a:pt x="790960" y="0"/>
                  </a:lnTo>
                  <a:lnTo>
                    <a:pt x="790960" y="773332"/>
                  </a:lnTo>
                  <a:lnTo>
                    <a:pt x="0" y="773332"/>
                  </a:lnTo>
                  <a:close/>
                </a:path>
              </a:pathLst>
            </a:custGeom>
            <a:blipFill>
              <a:blip r:embed="rId2"/>
              <a:stretch>
                <a:fillRect l="-42005" t="0" r="-20947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12636" y="8573780"/>
            <a:ext cx="19486548" cy="2097852"/>
            <a:chOff x="0" y="0"/>
            <a:chExt cx="5132259" cy="5525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32260" cy="552521"/>
            </a:xfrm>
            <a:custGeom>
              <a:avLst/>
              <a:gdLst/>
              <a:ahLst/>
              <a:cxnLst/>
              <a:rect r="r" b="b" t="t" l="l"/>
              <a:pathLst>
                <a:path h="552521" w="5132260">
                  <a:moveTo>
                    <a:pt x="0" y="0"/>
                  </a:moveTo>
                  <a:lnTo>
                    <a:pt x="5132260" y="0"/>
                  </a:lnTo>
                  <a:lnTo>
                    <a:pt x="5132260" y="552521"/>
                  </a:lnTo>
                  <a:lnTo>
                    <a:pt x="0" y="552521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132259" cy="590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800000">
            <a:off x="13569517" y="-1103509"/>
            <a:ext cx="5837997" cy="3842464"/>
          </a:xfrm>
          <a:custGeom>
            <a:avLst/>
            <a:gdLst/>
            <a:ahLst/>
            <a:cxnLst/>
            <a:rect r="r" b="b" t="t" l="l"/>
            <a:pathLst>
              <a:path h="3842464" w="5837997">
                <a:moveTo>
                  <a:pt x="0" y="0"/>
                </a:moveTo>
                <a:lnTo>
                  <a:pt x="5837997" y="0"/>
                </a:lnTo>
                <a:lnTo>
                  <a:pt x="5837997" y="3842463"/>
                </a:lnTo>
                <a:lnTo>
                  <a:pt x="0" y="38424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4979434" y="4099666"/>
            <a:ext cx="3908100" cy="3821003"/>
            <a:chOff x="0" y="0"/>
            <a:chExt cx="790960" cy="7733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0960" cy="773332"/>
            </a:xfrm>
            <a:custGeom>
              <a:avLst/>
              <a:gdLst/>
              <a:ahLst/>
              <a:cxnLst/>
              <a:rect r="r" b="b" t="t" l="l"/>
              <a:pathLst>
                <a:path h="773332" w="790960">
                  <a:moveTo>
                    <a:pt x="0" y="0"/>
                  </a:moveTo>
                  <a:lnTo>
                    <a:pt x="790960" y="0"/>
                  </a:lnTo>
                  <a:lnTo>
                    <a:pt x="790960" y="773332"/>
                  </a:lnTo>
                  <a:lnTo>
                    <a:pt x="0" y="773332"/>
                  </a:lnTo>
                  <a:close/>
                </a:path>
              </a:pathLst>
            </a:custGeom>
            <a:blipFill>
              <a:blip r:embed="rId5"/>
              <a:stretch>
                <a:fillRect l="0" t="-4189" r="0" b="-4189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30638" y="4133960"/>
            <a:ext cx="3908100" cy="3821003"/>
            <a:chOff x="0" y="0"/>
            <a:chExt cx="790960" cy="7733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0960" cy="773332"/>
            </a:xfrm>
            <a:custGeom>
              <a:avLst/>
              <a:gdLst/>
              <a:ahLst/>
              <a:cxnLst/>
              <a:rect r="r" b="b" t="t" l="l"/>
              <a:pathLst>
                <a:path h="773332" w="790960">
                  <a:moveTo>
                    <a:pt x="0" y="0"/>
                  </a:moveTo>
                  <a:lnTo>
                    <a:pt x="790960" y="0"/>
                  </a:lnTo>
                  <a:lnTo>
                    <a:pt x="790960" y="773332"/>
                  </a:lnTo>
                  <a:lnTo>
                    <a:pt x="0" y="773332"/>
                  </a:lnTo>
                  <a:close/>
                </a:path>
              </a:pathLst>
            </a:custGeom>
            <a:blipFill>
              <a:blip r:embed="rId6"/>
              <a:stretch>
                <a:fillRect l="-21292" t="0" r="-80517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362588" y="4133960"/>
            <a:ext cx="3908100" cy="3821003"/>
            <a:chOff x="0" y="0"/>
            <a:chExt cx="790960" cy="7733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0960" cy="773332"/>
            </a:xfrm>
            <a:custGeom>
              <a:avLst/>
              <a:gdLst/>
              <a:ahLst/>
              <a:cxnLst/>
              <a:rect r="r" b="b" t="t" l="l"/>
              <a:pathLst>
                <a:path h="773332" w="790960">
                  <a:moveTo>
                    <a:pt x="0" y="0"/>
                  </a:moveTo>
                  <a:lnTo>
                    <a:pt x="790960" y="0"/>
                  </a:lnTo>
                  <a:lnTo>
                    <a:pt x="790960" y="773332"/>
                  </a:lnTo>
                  <a:lnTo>
                    <a:pt x="0" y="773332"/>
                  </a:lnTo>
                  <a:close/>
                </a:path>
              </a:pathLst>
            </a:custGeom>
            <a:blipFill>
              <a:blip r:embed="rId7"/>
              <a:stretch>
                <a:fillRect l="-8326" t="0" r="-38597" b="0"/>
              </a:stretch>
            </a:blipFill>
            <a:ln w="857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28700" y="838200"/>
            <a:ext cx="12052234" cy="1774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CONOCIDA</a:t>
            </a: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 POR SER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3789" y="3234345"/>
            <a:ext cx="3138184" cy="5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5"/>
              </a:lnSpc>
              <a:spcBef>
                <a:spcPct val="0"/>
              </a:spcBef>
            </a:pPr>
            <a:r>
              <a:rPr lang="en-US" b="true" sz="2982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RÁPIDA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49350" y="3234345"/>
            <a:ext cx="3138184" cy="5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5"/>
              </a:lnSpc>
              <a:spcBef>
                <a:spcPct val="0"/>
              </a:spcBef>
            </a:pPr>
            <a:r>
              <a:rPr lang="en-US" b="true" sz="2982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FLEXIBLE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30638" y="2829991"/>
            <a:ext cx="3706870" cy="10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5"/>
              </a:lnSpc>
              <a:spcBef>
                <a:spcPct val="0"/>
              </a:spcBef>
            </a:pPr>
            <a:r>
              <a:rPr lang="en-US" b="true" sz="2982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ORIENTADA A CIENCIA DE DATOS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92385" y="2972408"/>
            <a:ext cx="5095615" cy="102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75"/>
              </a:lnSpc>
              <a:spcBef>
                <a:spcPct val="0"/>
              </a:spcBef>
            </a:pPr>
            <a:r>
              <a:rPr lang="en-US" b="true" sz="2982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ENFOCADA EN MODELOS GENERATIVOS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19988"/>
            <a:ext cx="13233921" cy="3610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¿QUÉ TIP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 D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E 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MO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DE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LOS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P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ER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MITE 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C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RE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  <a:r>
              <a:rPr lang="en-US" sz="10400" strike="noStrike" u="none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4815" y="3887597"/>
            <a:ext cx="8402612" cy="113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Permite modelar variables aleatorias como: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97967" y="5011232"/>
            <a:ext cx="8246033" cy="3390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N</a:t>
            </a: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ormal (Gaussiana)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Binomial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Poisson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Exponencial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Uniforme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Multinomial</a:t>
            </a:r>
          </a:p>
          <a:p>
            <a:pPr algn="l">
              <a:lnSpc>
                <a:spcPts val="3874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933583" y="3887597"/>
            <a:ext cx="9325717" cy="58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8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Modelos</a:t>
            </a:r>
            <a:r>
              <a:rPr lang="en-US" b="true" sz="420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 de mezcla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45661" y="4657976"/>
            <a:ext cx="9570088" cy="290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Un 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G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uss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ia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n Mix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t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ure M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del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(GMM) m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la d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atos 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que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p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vienen de va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ias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di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st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ib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uc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i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ones norm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a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les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.</a:t>
            </a:r>
          </a:p>
          <a:p>
            <a:pPr algn="l">
              <a:lnSpc>
                <a:spcPts val="3874"/>
              </a:lnSpc>
              <a:spcBef>
                <a:spcPct val="0"/>
              </a:spcBef>
            </a:pPr>
          </a:p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Lo cual permite Agrupamiento probabilístico y estimar probabilidades de pertenencia</a:t>
            </a:r>
          </a:p>
          <a:p>
            <a:pPr algn="l">
              <a:lnSpc>
                <a:spcPts val="3874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3768466" y="-7767609"/>
            <a:ext cx="4519534" cy="11398031"/>
            <a:chOff x="0" y="0"/>
            <a:chExt cx="1190330" cy="3001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90330" cy="3001950"/>
            </a:xfrm>
            <a:custGeom>
              <a:avLst/>
              <a:gdLst/>
              <a:ahLst/>
              <a:cxnLst/>
              <a:rect r="r" b="b" t="t" l="l"/>
              <a:pathLst>
                <a:path h="3001950" w="1190330">
                  <a:moveTo>
                    <a:pt x="0" y="0"/>
                  </a:moveTo>
                  <a:lnTo>
                    <a:pt x="1190330" y="0"/>
                  </a:lnTo>
                  <a:lnTo>
                    <a:pt x="1190330" y="3001950"/>
                  </a:lnTo>
                  <a:lnTo>
                    <a:pt x="0" y="3001950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190330" cy="30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3669637" y="7451736"/>
            <a:ext cx="7179327" cy="4725302"/>
          </a:xfrm>
          <a:custGeom>
            <a:avLst/>
            <a:gdLst/>
            <a:ahLst/>
            <a:cxnLst/>
            <a:rect r="r" b="b" t="t" l="l"/>
            <a:pathLst>
              <a:path h="4725302" w="7179327">
                <a:moveTo>
                  <a:pt x="0" y="0"/>
                </a:moveTo>
                <a:lnTo>
                  <a:pt x="7179326" y="0"/>
                </a:lnTo>
                <a:lnTo>
                  <a:pt x="7179326" y="4725302"/>
                </a:lnTo>
                <a:lnTo>
                  <a:pt x="0" y="47253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1" id="11"/>
          <p:cNvGrpSpPr/>
          <p:nvPr/>
        </p:nvGrpSpPr>
        <p:grpSpPr>
          <a:xfrm rot="0">
            <a:off x="0" y="8601985"/>
            <a:ext cx="13168096" cy="3850593"/>
            <a:chOff x="0" y="0"/>
            <a:chExt cx="3468140" cy="10141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68140" cy="1014148"/>
            </a:xfrm>
            <a:custGeom>
              <a:avLst/>
              <a:gdLst/>
              <a:ahLst/>
              <a:cxnLst/>
              <a:rect r="r" b="b" t="t" l="l"/>
              <a:pathLst>
                <a:path h="1014148" w="3468140">
                  <a:moveTo>
                    <a:pt x="0" y="0"/>
                  </a:moveTo>
                  <a:lnTo>
                    <a:pt x="3468140" y="0"/>
                  </a:lnTo>
                  <a:lnTo>
                    <a:pt x="3468140" y="1014148"/>
                  </a:lnTo>
                  <a:lnTo>
                    <a:pt x="0" y="1014148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468140" cy="10522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9677" y="1085850"/>
            <a:ext cx="8402612" cy="58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H</a:t>
            </a:r>
            <a:r>
              <a:rPr lang="en-US" b="true" sz="420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idden Markov Models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4424" y="2969997"/>
            <a:ext cx="8246033" cy="2904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Eje</a:t>
            </a: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mplos de aplicación: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Reconocimiento de voz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Bioinformática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Series temporales</a:t>
            </a:r>
          </a:p>
          <a:p>
            <a:pPr algn="l" marL="669288" indent="-334644" lvl="1">
              <a:lnSpc>
                <a:spcPts val="3874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Predicción de secuencias</a:t>
            </a:r>
          </a:p>
          <a:p>
            <a:pPr algn="l">
              <a:lnSpc>
                <a:spcPts val="387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790457" y="3342941"/>
            <a:ext cx="9325717" cy="580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68"/>
              </a:lnSpc>
              <a:spcBef>
                <a:spcPct val="0"/>
              </a:spcBef>
            </a:pPr>
            <a:r>
              <a:rPr lang="en-US" b="true" sz="420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Redes Bayesianas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9677" y="1837025"/>
            <a:ext cx="9570088" cy="96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Modela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r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procesos secuenciales donde hay estados ocultos.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933583" y="-7767609"/>
            <a:ext cx="10354417" cy="9434136"/>
            <a:chOff x="0" y="0"/>
            <a:chExt cx="2727089" cy="24847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27089" cy="2484711"/>
            </a:xfrm>
            <a:custGeom>
              <a:avLst/>
              <a:gdLst/>
              <a:ahLst/>
              <a:cxnLst/>
              <a:rect r="r" b="b" t="t" l="l"/>
              <a:pathLst>
                <a:path h="2484711" w="2727089">
                  <a:moveTo>
                    <a:pt x="0" y="0"/>
                  </a:moveTo>
                  <a:lnTo>
                    <a:pt x="2727089" y="0"/>
                  </a:lnTo>
                  <a:lnTo>
                    <a:pt x="2727089" y="2484711"/>
                  </a:lnTo>
                  <a:lnTo>
                    <a:pt x="0" y="2484711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27089" cy="2522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655010" y="5874884"/>
            <a:ext cx="7179327" cy="4725302"/>
          </a:xfrm>
          <a:custGeom>
            <a:avLst/>
            <a:gdLst/>
            <a:ahLst/>
            <a:cxnLst/>
            <a:rect r="r" b="b" t="t" l="l"/>
            <a:pathLst>
              <a:path h="4725302" w="7179327">
                <a:moveTo>
                  <a:pt x="0" y="0"/>
                </a:moveTo>
                <a:lnTo>
                  <a:pt x="7179327" y="0"/>
                </a:lnTo>
                <a:lnTo>
                  <a:pt x="7179327" y="4725303"/>
                </a:lnTo>
                <a:lnTo>
                  <a:pt x="0" y="4725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-3232841" y="9258300"/>
            <a:ext cx="24046598" cy="2869531"/>
            <a:chOff x="0" y="0"/>
            <a:chExt cx="6333260" cy="7557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33260" cy="755761"/>
            </a:xfrm>
            <a:custGeom>
              <a:avLst/>
              <a:gdLst/>
              <a:ahLst/>
              <a:cxnLst/>
              <a:rect r="r" b="b" t="t" l="l"/>
              <a:pathLst>
                <a:path h="755761" w="6333260">
                  <a:moveTo>
                    <a:pt x="0" y="0"/>
                  </a:moveTo>
                  <a:lnTo>
                    <a:pt x="6333260" y="0"/>
                  </a:lnTo>
                  <a:lnTo>
                    <a:pt x="6333260" y="755761"/>
                  </a:lnTo>
                  <a:lnTo>
                    <a:pt x="0" y="755761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33260" cy="793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933583" y="3951522"/>
            <a:ext cx="9570088" cy="5819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D</a:t>
            </a: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ependencias probabilísticas entre variables.</a:t>
            </a:r>
          </a:p>
          <a:p>
            <a:pPr algn="l">
              <a:lnSpc>
                <a:spcPts val="3874"/>
              </a:lnSpc>
              <a:spcBef>
                <a:spcPct val="0"/>
              </a:spcBef>
            </a:pPr>
          </a:p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Ejemplo:</a:t>
            </a:r>
          </a:p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   Si:</a:t>
            </a:r>
          </a:p>
          <a:p>
            <a:pPr algn="l" marL="669288" indent="-334644" lvl="1">
              <a:lnSpc>
                <a:spcPts val="3874"/>
              </a:lnSpc>
              <a:spcBef>
                <a:spcPct val="0"/>
              </a:spcBef>
              <a:buFont typeface="Arial"/>
              <a:buChar char="•"/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Lluvia - Influye en - Trancón</a:t>
            </a:r>
          </a:p>
          <a:p>
            <a:pPr algn="l" marL="669288" indent="-334644" lvl="1">
              <a:lnSpc>
                <a:spcPts val="3874"/>
              </a:lnSpc>
              <a:spcBef>
                <a:spcPct val="0"/>
              </a:spcBef>
              <a:buFont typeface="Arial"/>
              <a:buChar char="•"/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Trancón -Influye en -Llegar tarde</a:t>
            </a:r>
          </a:p>
          <a:p>
            <a:pPr algn="l">
              <a:lnSpc>
                <a:spcPts val="3874"/>
              </a:lnSpc>
              <a:spcBef>
                <a:spcPct val="0"/>
              </a:spcBef>
            </a:pPr>
          </a:p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Se puede construir una red donde la probabilidad de      llegar tarde dependa de la lluvia:</a:t>
            </a:r>
          </a:p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sz="3099" strike="noStrike" u="none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     </a:t>
            </a:r>
          </a:p>
          <a:p>
            <a:pPr algn="l">
              <a:lnSpc>
                <a:spcPts val="3874"/>
              </a:lnSpc>
              <a:spcBef>
                <a:spcPct val="0"/>
              </a:spcBef>
            </a:pPr>
          </a:p>
          <a:p>
            <a:pPr algn="l">
              <a:lnSpc>
                <a:spcPts val="3874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111997" y="8489497"/>
            <a:ext cx="9570088" cy="4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4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P(LlegarTarde∣Lluvia)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2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102554" y="5823999"/>
            <a:ext cx="4228698" cy="6343242"/>
            <a:chOff x="0" y="0"/>
            <a:chExt cx="742676" cy="1114048"/>
          </a:xfrm>
        </p:grpSpPr>
        <p:sp>
          <p:nvSpPr>
            <p:cNvPr name="Freeform 3" id="3"/>
            <p:cNvSpPr/>
            <p:nvPr/>
          </p:nvSpPr>
          <p:spPr>
            <a:xfrm flipH="false" flipV="false" rot="-10799999">
              <a:off x="0" y="0"/>
              <a:ext cx="742676" cy="1114048"/>
            </a:xfrm>
            <a:custGeom>
              <a:avLst/>
              <a:gdLst/>
              <a:ahLst/>
              <a:cxnLst/>
              <a:rect r="r" b="b" t="t" l="l"/>
              <a:pathLst>
                <a:path h="1114048" w="742676">
                  <a:moveTo>
                    <a:pt x="494984" y="1094979"/>
                  </a:moveTo>
                  <a:cubicBezTo>
                    <a:pt x="457031" y="1106492"/>
                    <a:pt x="413622" y="1114048"/>
                    <a:pt x="371138" y="1114048"/>
                  </a:cubicBezTo>
                  <a:cubicBezTo>
                    <a:pt x="328653" y="1114048"/>
                    <a:pt x="287771" y="1107572"/>
                    <a:pt x="250098" y="1096058"/>
                  </a:cubicBezTo>
                  <a:cubicBezTo>
                    <a:pt x="249295" y="1095698"/>
                    <a:pt x="248494" y="1095698"/>
                    <a:pt x="247692" y="1095338"/>
                  </a:cubicBezTo>
                  <a:cubicBezTo>
                    <a:pt x="106211" y="1049283"/>
                    <a:pt x="2004" y="927669"/>
                    <a:pt x="0" y="778855"/>
                  </a:cubicBezTo>
                  <a:lnTo>
                    <a:pt x="0" y="0"/>
                  </a:lnTo>
                  <a:lnTo>
                    <a:pt x="742676" y="0"/>
                  </a:lnTo>
                  <a:lnTo>
                    <a:pt x="742676" y="778277"/>
                  </a:lnTo>
                  <a:cubicBezTo>
                    <a:pt x="740672" y="928388"/>
                    <a:pt x="638068" y="1050003"/>
                    <a:pt x="494984" y="1094979"/>
                  </a:cubicBezTo>
                  <a:close/>
                </a:path>
              </a:pathLst>
            </a:custGeom>
            <a:blipFill>
              <a:blip r:embed="rId2"/>
              <a:stretch>
                <a:fillRect l="-18383" t="-2226" r="-23773" b="0"/>
              </a:stretch>
            </a:blipFill>
            <a:ln w="104775" cap="sq">
              <a:solidFill>
                <a:srgbClr val="9F938C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9142958">
            <a:off x="-471350" y="949908"/>
            <a:ext cx="2401084" cy="2459211"/>
          </a:xfrm>
          <a:custGeom>
            <a:avLst/>
            <a:gdLst/>
            <a:ahLst/>
            <a:cxnLst/>
            <a:rect r="r" b="b" t="t" l="l"/>
            <a:pathLst>
              <a:path h="2459211" w="2401084">
                <a:moveTo>
                  <a:pt x="0" y="0"/>
                </a:moveTo>
                <a:lnTo>
                  <a:pt x="2401084" y="0"/>
                </a:lnTo>
                <a:lnTo>
                  <a:pt x="2401084" y="2459211"/>
                </a:lnTo>
                <a:lnTo>
                  <a:pt x="0" y="245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455848">
            <a:off x="16583823" y="449383"/>
            <a:ext cx="2401084" cy="2459211"/>
          </a:xfrm>
          <a:custGeom>
            <a:avLst/>
            <a:gdLst/>
            <a:ahLst/>
            <a:cxnLst/>
            <a:rect r="r" b="b" t="t" l="l"/>
            <a:pathLst>
              <a:path h="2459211" w="2401084">
                <a:moveTo>
                  <a:pt x="0" y="0"/>
                </a:moveTo>
                <a:lnTo>
                  <a:pt x="2401085" y="0"/>
                </a:lnTo>
                <a:lnTo>
                  <a:pt x="2401085" y="2459211"/>
                </a:lnTo>
                <a:lnTo>
                  <a:pt x="0" y="245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37773" y="533476"/>
            <a:ext cx="2345083" cy="285674"/>
          </a:xfrm>
          <a:custGeom>
            <a:avLst/>
            <a:gdLst/>
            <a:ahLst/>
            <a:cxnLst/>
            <a:rect r="r" b="b" t="t" l="l"/>
            <a:pathLst>
              <a:path h="285674" w="2345083">
                <a:moveTo>
                  <a:pt x="0" y="0"/>
                </a:moveTo>
                <a:lnTo>
                  <a:pt x="2345083" y="0"/>
                </a:lnTo>
                <a:lnTo>
                  <a:pt x="2345083" y="285674"/>
                </a:lnTo>
                <a:lnTo>
                  <a:pt x="0" y="285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05144" y="533476"/>
            <a:ext cx="2345083" cy="285674"/>
          </a:xfrm>
          <a:custGeom>
            <a:avLst/>
            <a:gdLst/>
            <a:ahLst/>
            <a:cxnLst/>
            <a:rect r="r" b="b" t="t" l="l"/>
            <a:pathLst>
              <a:path h="285674" w="2345083">
                <a:moveTo>
                  <a:pt x="0" y="0"/>
                </a:moveTo>
                <a:lnTo>
                  <a:pt x="2345083" y="0"/>
                </a:lnTo>
                <a:lnTo>
                  <a:pt x="2345083" y="285674"/>
                </a:lnTo>
                <a:lnTo>
                  <a:pt x="0" y="2856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10800000">
            <a:off x="7124302" y="5823999"/>
            <a:ext cx="4228698" cy="6343242"/>
            <a:chOff x="0" y="0"/>
            <a:chExt cx="742676" cy="1114048"/>
          </a:xfrm>
        </p:grpSpPr>
        <p:sp>
          <p:nvSpPr>
            <p:cNvPr name="Freeform 9" id="9"/>
            <p:cNvSpPr/>
            <p:nvPr/>
          </p:nvSpPr>
          <p:spPr>
            <a:xfrm flipH="false" flipV="false" rot="-10800000">
              <a:off x="0" y="0"/>
              <a:ext cx="742676" cy="1114048"/>
            </a:xfrm>
            <a:custGeom>
              <a:avLst/>
              <a:gdLst/>
              <a:ahLst/>
              <a:cxnLst/>
              <a:rect r="r" b="b" t="t" l="l"/>
              <a:pathLst>
                <a:path h="1114048" w="742676">
                  <a:moveTo>
                    <a:pt x="494984" y="1094979"/>
                  </a:moveTo>
                  <a:cubicBezTo>
                    <a:pt x="457031" y="1106492"/>
                    <a:pt x="413622" y="1114048"/>
                    <a:pt x="371138" y="1114048"/>
                  </a:cubicBezTo>
                  <a:cubicBezTo>
                    <a:pt x="328653" y="1114048"/>
                    <a:pt x="287771" y="1107572"/>
                    <a:pt x="250098" y="1096058"/>
                  </a:cubicBezTo>
                  <a:cubicBezTo>
                    <a:pt x="249295" y="1095698"/>
                    <a:pt x="248494" y="1095698"/>
                    <a:pt x="247692" y="1095338"/>
                  </a:cubicBezTo>
                  <a:cubicBezTo>
                    <a:pt x="106211" y="1049283"/>
                    <a:pt x="2004" y="927669"/>
                    <a:pt x="0" y="778855"/>
                  </a:cubicBezTo>
                  <a:lnTo>
                    <a:pt x="0" y="0"/>
                  </a:lnTo>
                  <a:lnTo>
                    <a:pt x="742676" y="0"/>
                  </a:lnTo>
                  <a:lnTo>
                    <a:pt x="742676" y="778277"/>
                  </a:lnTo>
                  <a:cubicBezTo>
                    <a:pt x="740672" y="928388"/>
                    <a:pt x="638068" y="1050003"/>
                    <a:pt x="494984" y="1094979"/>
                  </a:cubicBezTo>
                  <a:close/>
                </a:path>
              </a:pathLst>
            </a:custGeom>
            <a:blipFill>
              <a:blip r:embed="rId7"/>
              <a:stretch>
                <a:fillRect l="-43432" t="0" r="-42216" b="0"/>
              </a:stretch>
            </a:blipFill>
            <a:ln w="104775" cap="sq">
              <a:solidFill>
                <a:srgbClr val="9F938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-10800000">
            <a:off x="12669042" y="5823999"/>
            <a:ext cx="4228698" cy="6343242"/>
            <a:chOff x="0" y="0"/>
            <a:chExt cx="742676" cy="11140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676" cy="1114048"/>
            </a:xfrm>
            <a:custGeom>
              <a:avLst/>
              <a:gdLst/>
              <a:ahLst/>
              <a:cxnLst/>
              <a:rect r="r" b="b" t="t" l="l"/>
              <a:pathLst>
                <a:path h="1114048" w="742676">
                  <a:moveTo>
                    <a:pt x="247692" y="19070"/>
                  </a:moveTo>
                  <a:cubicBezTo>
                    <a:pt x="285645" y="7556"/>
                    <a:pt x="329054" y="0"/>
                    <a:pt x="371538" y="0"/>
                  </a:cubicBezTo>
                  <a:cubicBezTo>
                    <a:pt x="414023" y="0"/>
                    <a:pt x="454905" y="6476"/>
                    <a:pt x="492578" y="17990"/>
                  </a:cubicBezTo>
                  <a:cubicBezTo>
                    <a:pt x="493381" y="18350"/>
                    <a:pt x="494182" y="18350"/>
                    <a:pt x="494984" y="18710"/>
                  </a:cubicBezTo>
                  <a:cubicBezTo>
                    <a:pt x="636465" y="64765"/>
                    <a:pt x="740672" y="186379"/>
                    <a:pt x="742676" y="335194"/>
                  </a:cubicBezTo>
                  <a:lnTo>
                    <a:pt x="742676" y="1114048"/>
                  </a:lnTo>
                  <a:lnTo>
                    <a:pt x="0" y="1114048"/>
                  </a:lnTo>
                  <a:lnTo>
                    <a:pt x="0" y="335772"/>
                  </a:lnTo>
                  <a:cubicBezTo>
                    <a:pt x="2004" y="185660"/>
                    <a:pt x="104608" y="64045"/>
                    <a:pt x="247692" y="19070"/>
                  </a:cubicBezTo>
                  <a:close/>
                </a:path>
              </a:pathLst>
            </a:custGeom>
            <a:blipFill>
              <a:blip r:embed="rId8"/>
              <a:stretch>
                <a:fillRect l="-68890" t="0" r="-98082" b="0"/>
              </a:stretch>
            </a:blipFill>
            <a:ln w="104775" cap="sq">
              <a:solidFill>
                <a:srgbClr val="9F938C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2949643" y="1011020"/>
            <a:ext cx="12388714" cy="145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82"/>
              </a:lnSpc>
              <a:spcBef>
                <a:spcPct val="0"/>
              </a:spcBef>
            </a:pPr>
            <a:r>
              <a:rPr lang="en-US" sz="8558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VENTAJAS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348" y="3367781"/>
            <a:ext cx="3855111" cy="93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9"/>
              </a:lnSpc>
            </a:pPr>
            <a:r>
              <a:rPr lang="en-US" b="true" sz="3199">
                <a:solidFill>
                  <a:srgbClr val="FFFFFF"/>
                </a:solidFill>
                <a:latin typeface="XM Yekan Bold"/>
                <a:ea typeface="XM Yekan Bold"/>
                <a:cs typeface="XM Yekan Bold"/>
                <a:sym typeface="XM Yekan Bold"/>
              </a:rPr>
              <a:t>ENTRENAMIENTO PARCIAL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06659" y="3373066"/>
            <a:ext cx="3274683" cy="93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XM Yekan Bold"/>
                <a:ea typeface="XM Yekan Bold"/>
                <a:cs typeface="XM Yekan Bold"/>
                <a:sym typeface="XM Yekan Bold"/>
              </a:rPr>
              <a:t>SOP</a:t>
            </a:r>
            <a:r>
              <a:rPr lang="en-US" b="true" sz="3199" strike="noStrike" u="none">
                <a:solidFill>
                  <a:srgbClr val="FFFFFF"/>
                </a:solidFill>
                <a:latin typeface="XM Yekan Bold"/>
                <a:ea typeface="XM Yekan Bold"/>
                <a:cs typeface="XM Yekan Bold"/>
                <a:sym typeface="XM Yekan Bold"/>
              </a:rPr>
              <a:t>ORT</a:t>
            </a:r>
            <a:r>
              <a:rPr lang="en-US" b="true" sz="3199" strike="noStrike" u="none">
                <a:solidFill>
                  <a:srgbClr val="FFFFFF"/>
                </a:solidFill>
                <a:latin typeface="XM Yekan Bold"/>
                <a:ea typeface="XM Yekan Bold"/>
                <a:cs typeface="XM Yekan Bold"/>
                <a:sym typeface="XM Yekan Bold"/>
              </a:rPr>
              <a:t>A P</a:t>
            </a:r>
            <a:r>
              <a:rPr lang="en-US" b="true" sz="3199" strike="noStrike" u="none">
                <a:solidFill>
                  <a:srgbClr val="FFFFFF"/>
                </a:solidFill>
                <a:latin typeface="XM Yekan Bold"/>
                <a:ea typeface="XM Yekan Bold"/>
                <a:cs typeface="XM Yekan Bold"/>
                <a:sym typeface="XM Yekan Bold"/>
              </a:rPr>
              <a:t>E</a:t>
            </a:r>
            <a:r>
              <a:rPr lang="en-US" b="true" sz="3199" strike="noStrike" u="none">
                <a:solidFill>
                  <a:srgbClr val="FFFFFF"/>
                </a:solidFill>
                <a:latin typeface="XM Yekan Bold"/>
                <a:ea typeface="XM Yekan Bold"/>
                <a:cs typeface="XM Yekan Bold"/>
                <a:sym typeface="XM Yekan Bold"/>
              </a:rPr>
              <a:t>S</a:t>
            </a:r>
            <a:r>
              <a:rPr lang="en-US" b="true" sz="3199" strike="noStrike" u="none">
                <a:solidFill>
                  <a:srgbClr val="FFFFFF"/>
                </a:solidFill>
                <a:latin typeface="XM Yekan Bold"/>
                <a:ea typeface="XM Yekan Bold"/>
                <a:cs typeface="XM Yekan Bold"/>
                <a:sym typeface="XM Yekan Bold"/>
              </a:rPr>
              <a:t>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46050" y="3518830"/>
            <a:ext cx="3274683" cy="934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XM Yekan Bold"/>
                <a:ea typeface="XM Yekan Bold"/>
                <a:cs typeface="XM Yekan Bold"/>
                <a:sym typeface="XM Yekan Bold"/>
              </a:rPr>
              <a:t>MANEJA DATOS FALTANTES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9192" y="4338602"/>
            <a:ext cx="5262803" cy="96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Pu</a:t>
            </a: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de entrenar con datos incompletos.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7249" y="4443893"/>
            <a:ext cx="5262803" cy="96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se pu</a:t>
            </a: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de dar mayor importancia a ciertos datos.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51990" y="4443893"/>
            <a:ext cx="5262803" cy="96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</a:pP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Pu</a:t>
            </a: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e</a:t>
            </a: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de entrenar con valores </a:t>
            </a:r>
            <a:r>
              <a:rPr lang="en-US" sz="3099">
                <a:solidFill>
                  <a:srgbClr val="FFFFFF"/>
                </a:solidFill>
                <a:latin typeface="XM Yekan"/>
                <a:ea typeface="XM Yekan"/>
                <a:cs typeface="XM Yekan"/>
                <a:sym typeface="XM Yekan"/>
              </a:rPr>
              <a:t>NaN.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6364956" y="1139680"/>
            <a:ext cx="6574238" cy="21664093"/>
            <a:chOff x="0" y="0"/>
            <a:chExt cx="1731487" cy="57057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1487" cy="5705769"/>
            </a:xfrm>
            <a:custGeom>
              <a:avLst/>
              <a:gdLst/>
              <a:ahLst/>
              <a:cxnLst/>
              <a:rect r="r" b="b" t="t" l="l"/>
              <a:pathLst>
                <a:path h="5705769" w="1731487">
                  <a:moveTo>
                    <a:pt x="0" y="0"/>
                  </a:moveTo>
                  <a:lnTo>
                    <a:pt x="1731487" y="0"/>
                  </a:lnTo>
                  <a:lnTo>
                    <a:pt x="1731487" y="5705769"/>
                  </a:lnTo>
                  <a:lnTo>
                    <a:pt x="0" y="5705769"/>
                  </a:lnTo>
                  <a:close/>
                </a:path>
              </a:pathLst>
            </a:custGeom>
            <a:solidFill>
              <a:srgbClr val="2C2E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31487" cy="5743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67855" y="4639203"/>
            <a:ext cx="1917913" cy="3102507"/>
          </a:xfrm>
          <a:custGeom>
            <a:avLst/>
            <a:gdLst/>
            <a:ahLst/>
            <a:cxnLst/>
            <a:rect r="r" b="b" t="t" l="l"/>
            <a:pathLst>
              <a:path h="3102507" w="1917913">
                <a:moveTo>
                  <a:pt x="0" y="0"/>
                </a:moveTo>
                <a:lnTo>
                  <a:pt x="1917913" y="0"/>
                </a:lnTo>
                <a:lnTo>
                  <a:pt x="1917913" y="3102507"/>
                </a:lnTo>
                <a:lnTo>
                  <a:pt x="0" y="31025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92609" y="4457160"/>
            <a:ext cx="2542733" cy="3035067"/>
          </a:xfrm>
          <a:custGeom>
            <a:avLst/>
            <a:gdLst/>
            <a:ahLst/>
            <a:cxnLst/>
            <a:rect r="r" b="b" t="t" l="l"/>
            <a:pathLst>
              <a:path h="3035067" w="2542733">
                <a:moveTo>
                  <a:pt x="0" y="0"/>
                </a:moveTo>
                <a:lnTo>
                  <a:pt x="2542733" y="0"/>
                </a:lnTo>
                <a:lnTo>
                  <a:pt x="2542733" y="3035066"/>
                </a:lnTo>
                <a:lnTo>
                  <a:pt x="0" y="3035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23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07636" y="5191259"/>
            <a:ext cx="1965478" cy="2170708"/>
          </a:xfrm>
          <a:custGeom>
            <a:avLst/>
            <a:gdLst/>
            <a:ahLst/>
            <a:cxnLst/>
            <a:rect r="r" b="b" t="t" l="l"/>
            <a:pathLst>
              <a:path h="2170708" w="1965478">
                <a:moveTo>
                  <a:pt x="0" y="0"/>
                </a:moveTo>
                <a:lnTo>
                  <a:pt x="1965477" y="0"/>
                </a:lnTo>
                <a:lnTo>
                  <a:pt x="1965477" y="2170708"/>
                </a:lnTo>
                <a:lnTo>
                  <a:pt x="0" y="2170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5400000">
            <a:off x="13229255" y="-3816036"/>
            <a:ext cx="2767096" cy="9189151"/>
            <a:chOff x="0" y="0"/>
            <a:chExt cx="728782" cy="24201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8782" cy="2420188"/>
            </a:xfrm>
            <a:custGeom>
              <a:avLst/>
              <a:gdLst/>
              <a:ahLst/>
              <a:cxnLst/>
              <a:rect r="r" b="b" t="t" l="l"/>
              <a:pathLst>
                <a:path h="2420188" w="728782">
                  <a:moveTo>
                    <a:pt x="0" y="0"/>
                  </a:moveTo>
                  <a:lnTo>
                    <a:pt x="728782" y="0"/>
                  </a:lnTo>
                  <a:lnTo>
                    <a:pt x="728782" y="2420188"/>
                  </a:lnTo>
                  <a:lnTo>
                    <a:pt x="0" y="2420188"/>
                  </a:lnTo>
                  <a:close/>
                </a:path>
              </a:pathLst>
            </a:custGeom>
            <a:solidFill>
              <a:srgbClr val="2C2E3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28782" cy="24582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400000">
            <a:off x="1373160" y="6454140"/>
            <a:ext cx="3668549" cy="6414869"/>
          </a:xfrm>
          <a:custGeom>
            <a:avLst/>
            <a:gdLst/>
            <a:ahLst/>
            <a:cxnLst/>
            <a:rect r="r" b="b" t="t" l="l"/>
            <a:pathLst>
              <a:path h="6414869" w="3668549">
                <a:moveTo>
                  <a:pt x="0" y="0"/>
                </a:moveTo>
                <a:lnTo>
                  <a:pt x="3668549" y="0"/>
                </a:lnTo>
                <a:lnTo>
                  <a:pt x="3668549" y="6414869"/>
                </a:lnTo>
                <a:lnTo>
                  <a:pt x="0" y="6414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7486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7817800" y="6454140"/>
            <a:ext cx="3668549" cy="6414869"/>
          </a:xfrm>
          <a:custGeom>
            <a:avLst/>
            <a:gdLst/>
            <a:ahLst/>
            <a:cxnLst/>
            <a:rect r="r" b="b" t="t" l="l"/>
            <a:pathLst>
              <a:path h="6414869" w="3668549">
                <a:moveTo>
                  <a:pt x="0" y="0"/>
                </a:moveTo>
                <a:lnTo>
                  <a:pt x="3668549" y="0"/>
                </a:lnTo>
                <a:lnTo>
                  <a:pt x="3668549" y="6414869"/>
                </a:lnTo>
                <a:lnTo>
                  <a:pt x="0" y="6414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7486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2441971" y="-2879621"/>
            <a:ext cx="3668549" cy="6414869"/>
          </a:xfrm>
          <a:custGeom>
            <a:avLst/>
            <a:gdLst/>
            <a:ahLst/>
            <a:cxnLst/>
            <a:rect r="r" b="b" t="t" l="l"/>
            <a:pathLst>
              <a:path h="6414869" w="3668549">
                <a:moveTo>
                  <a:pt x="0" y="0"/>
                </a:moveTo>
                <a:lnTo>
                  <a:pt x="3668549" y="0"/>
                </a:lnTo>
                <a:lnTo>
                  <a:pt x="3668549" y="6414869"/>
                </a:lnTo>
                <a:lnTo>
                  <a:pt x="0" y="6414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7486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400000">
            <a:off x="13964153" y="6454140"/>
            <a:ext cx="3668549" cy="6414869"/>
          </a:xfrm>
          <a:custGeom>
            <a:avLst/>
            <a:gdLst/>
            <a:ahLst/>
            <a:cxnLst/>
            <a:rect r="r" b="b" t="t" l="l"/>
            <a:pathLst>
              <a:path h="6414869" w="3668549">
                <a:moveTo>
                  <a:pt x="0" y="0"/>
                </a:moveTo>
                <a:lnTo>
                  <a:pt x="3668548" y="0"/>
                </a:lnTo>
                <a:lnTo>
                  <a:pt x="3668548" y="6414869"/>
                </a:lnTo>
                <a:lnTo>
                  <a:pt x="0" y="6414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74861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631034" y="4504901"/>
            <a:ext cx="3073414" cy="2866657"/>
          </a:xfrm>
          <a:custGeom>
            <a:avLst/>
            <a:gdLst/>
            <a:ahLst/>
            <a:cxnLst/>
            <a:rect r="r" b="b" t="t" l="l"/>
            <a:pathLst>
              <a:path h="2866657" w="3073414">
                <a:moveTo>
                  <a:pt x="0" y="0"/>
                </a:moveTo>
                <a:lnTo>
                  <a:pt x="3073414" y="0"/>
                </a:lnTo>
                <a:lnTo>
                  <a:pt x="3073414" y="2866657"/>
                </a:lnTo>
                <a:lnTo>
                  <a:pt x="0" y="28666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71387" y="420496"/>
            <a:ext cx="8212628" cy="181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5"/>
              </a:lnSpc>
              <a:spcBef>
                <a:spcPct val="0"/>
              </a:spcBef>
            </a:pPr>
            <a:r>
              <a:rPr lang="en-US" sz="10682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APLICACIONES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514571"/>
            <a:ext cx="3396223" cy="99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9"/>
              </a:lnSpc>
              <a:spcBef>
                <a:spcPct val="0"/>
              </a:spcBef>
            </a:pPr>
            <a:r>
              <a:rPr lang="en-US" b="true" sz="373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Detección de fraude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51800" y="3476672"/>
            <a:ext cx="3370506" cy="50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9"/>
              </a:lnSpc>
              <a:spcBef>
                <a:spcPct val="0"/>
              </a:spcBef>
            </a:pPr>
            <a:r>
              <a:rPr lang="en-US" b="true" sz="373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Bioinformática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05121" y="3476672"/>
            <a:ext cx="3370506" cy="50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9"/>
              </a:lnSpc>
              <a:spcBef>
                <a:spcPct val="0"/>
              </a:spcBef>
            </a:pPr>
            <a:r>
              <a:rPr lang="en-US" b="true" sz="373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NPL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44244" y="3971636"/>
            <a:ext cx="4092260" cy="96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4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XM Yekan"/>
                <a:ea typeface="XM Yekan"/>
                <a:cs typeface="XM Yekan"/>
                <a:sym typeface="XM Yekan"/>
              </a:rPr>
              <a:t>Procesamiento de Lenguaje Natural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62517" y="3233752"/>
            <a:ext cx="3370506" cy="990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9"/>
              </a:lnSpc>
              <a:spcBef>
                <a:spcPct val="0"/>
              </a:spcBef>
            </a:pPr>
            <a:r>
              <a:rPr lang="en-US" b="true" sz="3730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Análisis financiero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9388" y="1263651"/>
            <a:ext cx="13925478" cy="362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LINK</a:t>
            </a:r>
            <a:r>
              <a:rPr lang="en-US" sz="10400">
                <a:solidFill>
                  <a:srgbClr val="9F938C"/>
                </a:solidFill>
                <a:latin typeface="Anton"/>
                <a:ea typeface="Anton"/>
                <a:cs typeface="Anton"/>
                <a:sym typeface="Anton"/>
              </a:rPr>
              <a:t> DEL REPOSITORIO DE GITHUB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357401" y="-770743"/>
            <a:ext cx="5339580" cy="11398031"/>
            <a:chOff x="0" y="0"/>
            <a:chExt cx="1406309" cy="3001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6309" cy="3001950"/>
            </a:xfrm>
            <a:custGeom>
              <a:avLst/>
              <a:gdLst/>
              <a:ahLst/>
              <a:cxnLst/>
              <a:rect r="r" b="b" t="t" l="l"/>
              <a:pathLst>
                <a:path h="3001950" w="1406309">
                  <a:moveTo>
                    <a:pt x="0" y="0"/>
                  </a:moveTo>
                  <a:lnTo>
                    <a:pt x="1406309" y="0"/>
                  </a:lnTo>
                  <a:lnTo>
                    <a:pt x="1406309" y="3001950"/>
                  </a:lnTo>
                  <a:lnTo>
                    <a:pt x="0" y="3001950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06309" cy="30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13569517" y="-1103509"/>
            <a:ext cx="5837997" cy="3842464"/>
          </a:xfrm>
          <a:custGeom>
            <a:avLst/>
            <a:gdLst/>
            <a:ahLst/>
            <a:cxnLst/>
            <a:rect r="r" b="b" t="t" l="l"/>
            <a:pathLst>
              <a:path h="3842464" w="5837997">
                <a:moveTo>
                  <a:pt x="0" y="0"/>
                </a:moveTo>
                <a:lnTo>
                  <a:pt x="5837997" y="0"/>
                </a:lnTo>
                <a:lnTo>
                  <a:pt x="5837997" y="3842463"/>
                </a:lnTo>
                <a:lnTo>
                  <a:pt x="0" y="3842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597931" y="5706465"/>
            <a:ext cx="17154092" cy="1367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2"/>
              </a:lnSpc>
            </a:pPr>
            <a:r>
              <a:rPr lang="en-US" sz="4393" b="true">
                <a:solidFill>
                  <a:srgbClr val="000000"/>
                </a:solidFill>
                <a:latin typeface="XM Yekan Bold"/>
                <a:ea typeface="XM Yekan Bold"/>
                <a:cs typeface="XM Yekan Bold"/>
                <a:sym typeface="XM Yekan Bold"/>
              </a:rPr>
              <a:t>https://github.com/BBDavidSS/Prediccion-de-Aprobacion-de-un-Estudiante.git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C2E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56340" y="4109820"/>
            <a:ext cx="10975319" cy="185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244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MUCHAS GRACIAS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79172" y="-342025"/>
            <a:ext cx="7329657" cy="2932128"/>
            <a:chOff x="0" y="0"/>
            <a:chExt cx="1930445" cy="7722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30445" cy="772248"/>
            </a:xfrm>
            <a:custGeom>
              <a:avLst/>
              <a:gdLst/>
              <a:ahLst/>
              <a:cxnLst/>
              <a:rect r="r" b="b" t="t" l="l"/>
              <a:pathLst>
                <a:path h="772248" w="1930445">
                  <a:moveTo>
                    <a:pt x="0" y="0"/>
                  </a:moveTo>
                  <a:lnTo>
                    <a:pt x="1930445" y="0"/>
                  </a:lnTo>
                  <a:lnTo>
                    <a:pt x="1930445" y="772248"/>
                  </a:lnTo>
                  <a:lnTo>
                    <a:pt x="0" y="772248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30445" cy="810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5400000">
            <a:off x="7339966" y="-1317246"/>
            <a:ext cx="3608067" cy="5558508"/>
          </a:xfrm>
          <a:custGeom>
            <a:avLst/>
            <a:gdLst/>
            <a:ahLst/>
            <a:cxnLst/>
            <a:rect r="r" b="b" t="t" l="l"/>
            <a:pathLst>
              <a:path h="5558508" w="3608067">
                <a:moveTo>
                  <a:pt x="0" y="0"/>
                </a:moveTo>
                <a:lnTo>
                  <a:pt x="3608068" y="0"/>
                </a:lnTo>
                <a:lnTo>
                  <a:pt x="3608068" y="5558508"/>
                </a:lnTo>
                <a:lnTo>
                  <a:pt x="0" y="555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8135" b="-2646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5479172" y="7809304"/>
            <a:ext cx="7329657" cy="2932128"/>
            <a:chOff x="0" y="0"/>
            <a:chExt cx="1930445" cy="7722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30445" cy="772248"/>
            </a:xfrm>
            <a:custGeom>
              <a:avLst/>
              <a:gdLst/>
              <a:ahLst/>
              <a:cxnLst/>
              <a:rect r="r" b="b" t="t" l="l"/>
              <a:pathLst>
                <a:path h="772248" w="1930445">
                  <a:moveTo>
                    <a:pt x="0" y="0"/>
                  </a:moveTo>
                  <a:lnTo>
                    <a:pt x="1930445" y="0"/>
                  </a:lnTo>
                  <a:lnTo>
                    <a:pt x="1930445" y="772248"/>
                  </a:lnTo>
                  <a:lnTo>
                    <a:pt x="0" y="772248"/>
                  </a:lnTo>
                  <a:close/>
                </a:path>
              </a:pathLst>
            </a:custGeom>
            <a:solidFill>
              <a:srgbClr val="9F938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930445" cy="810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5400000">
            <a:off x="7339966" y="6158144"/>
            <a:ext cx="3608067" cy="5558508"/>
          </a:xfrm>
          <a:custGeom>
            <a:avLst/>
            <a:gdLst/>
            <a:ahLst/>
            <a:cxnLst/>
            <a:rect r="r" b="b" t="t" l="l"/>
            <a:pathLst>
              <a:path h="5558508" w="3608067">
                <a:moveTo>
                  <a:pt x="0" y="0"/>
                </a:moveTo>
                <a:lnTo>
                  <a:pt x="3608068" y="0"/>
                </a:lnTo>
                <a:lnTo>
                  <a:pt x="3608068" y="5558508"/>
                </a:lnTo>
                <a:lnTo>
                  <a:pt x="0" y="5558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58135" b="-264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DAHCXawFQ4s</dc:identifier>
  <dcterms:modified xsi:type="dcterms:W3CDTF">2011-08-01T06:04:30Z</dcterms:modified>
  <cp:revision>1</cp:revision>
  <dc:title>Presentación Proyecto Arquitectura Moderno Marrón y Negro</dc:title>
</cp:coreProperties>
</file>